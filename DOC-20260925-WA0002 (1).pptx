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Mechanical Strength
&amp; Stress–Strain Web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346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2E1F0"/>
                </a:solidFill>
              </a:defRPr>
            </a:pPr>
            <a:r>
              <a:t>Website working, calculations, engineering application and user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257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Website: mechanical-strength-stress-strain.streamlit.app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Mechanical Strength • Stress–Strain Web App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741"/>
                </a:solidFill>
              </a:rPr>
              <a:t>1. Purpose of the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9737D"/>
                </a:solidFill>
              </a:rPr>
              <a:t>A simple interactive tool for understanding and applying strength-of-materials calculations.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74720" cy="192024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920240"/>
          </a:xfrm>
          <a:prstGeom prst="rect">
            <a:avLst/>
          </a:prstGeom>
          <a:solidFill>
            <a:srgbClr val="DC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30632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62741"/>
                </a:solidFill>
              </a:rPr>
              <a:t>Problem being solved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306323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Manual stress and strain calculations can be repetitive and make it harder to visualize how a material responds to load.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74720" cy="192024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1920240"/>
          </a:xfrm>
          <a:prstGeom prst="rect">
            <a:avLst/>
          </a:prstGeom>
          <a:solidFill>
            <a:srgbClr val="2A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581912"/>
            <a:ext cx="30632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62741"/>
                </a:solidFill>
              </a:rPr>
              <a:t>Proposed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75688"/>
            <a:ext cx="306323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The web app accepts engineering inputs, performs the relevant calculations, and presents numerical results in an easy-to-read interface.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474720" cy="192024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73152" cy="1920240"/>
          </a:xfrm>
          <a:prstGeom prst="rect">
            <a:avLst/>
          </a:prstGeom>
          <a:solidFill>
            <a:srgbClr val="32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581912"/>
            <a:ext cx="30632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62741"/>
                </a:solidFill>
              </a:rPr>
              <a:t>Mechanical connection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075688"/>
            <a:ext cx="306323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The tool links classroom concepts—stress, strain, deformation and material strength—to practical engineering analysis.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8620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</a:defRPr>
            </a:pPr>
            <a:r>
              <a:t>Useful for learning and quick preliminary calculations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</a:defRPr>
            </a:pPr>
            <a:r>
              <a:t>Can help students understand the effect of force, area and deformation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</a:defRPr>
            </a:pPr>
            <a:r>
              <a:t>Interactive web interface makes the topic easier to demonstrate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Mechanical Strength • Stress–Strain Web App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741"/>
                </a:solidFill>
              </a:rPr>
              <a:t>2. Basic Engineering Concepts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9737D"/>
                </a:solidFill>
              </a:rPr>
              <a:t>The calculations are based on standard mechanics-of-materials relationships.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1417320"/>
          </a:xfrm>
          <a:prstGeom prst="rect">
            <a:avLst/>
          </a:prstGeom>
          <a:solidFill>
            <a:srgbClr val="2A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36192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62741"/>
                </a:solidFill>
              </a:rPr>
              <a:t>Stress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29967"/>
            <a:ext cx="4800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σ = F / A
Stress is the internal force carried per unit cross-sectional area. Typical engineering unit: Pa or MPa.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63240"/>
            <a:ext cx="521208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063240"/>
            <a:ext cx="73152" cy="1417320"/>
          </a:xfrm>
          <a:prstGeom prst="rect">
            <a:avLst/>
          </a:prstGeom>
          <a:solidFill>
            <a:srgbClr val="32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27832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62741"/>
                </a:solidFill>
              </a:rPr>
              <a:t>Strain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21608"/>
            <a:ext cx="4800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ε = ΔL / L₀
Strain represents deformation relative to the original length and is dimensionless.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71600"/>
            <a:ext cx="521208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371600"/>
            <a:ext cx="73152" cy="1417320"/>
          </a:xfrm>
          <a:prstGeom prst="rect">
            <a:avLst/>
          </a:prstGeom>
          <a:solidFill>
            <a:srgbClr val="DC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536192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62741"/>
                </a:solidFill>
              </a:rPr>
              <a:t>Young's Modulus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029967"/>
            <a:ext cx="4800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E = σ / ε  (in the linear elastic region)
It represents the slope of the elastic portion of the stress–strain curve.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063240"/>
            <a:ext cx="521208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063240"/>
            <a:ext cx="73152" cy="1417320"/>
          </a:xfrm>
          <a:prstGeom prst="rect">
            <a:avLst/>
          </a:prstGeom>
          <a:solidFill>
            <a:srgbClr val="2A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227832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62741"/>
                </a:solidFill>
              </a:rPr>
              <a:t>Mechanical strength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721608"/>
            <a:ext cx="4800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Strength-related results help engineers judge whether a material can safely withstand an applied load.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Mechanical Strength • Stress–Strain Web App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741"/>
                </a:solidFill>
              </a:rPr>
              <a:t>3. How the Website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9737D"/>
                </a:solidFill>
              </a:rPr>
              <a:t>Typical user workflow from input to engineering result.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828800"/>
            <a:ext cx="566928" cy="566928"/>
          </a:xfrm>
          <a:prstGeom prst="ellipse">
            <a:avLst/>
          </a:prstGeom>
          <a:solidFill>
            <a:srgbClr val="2A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47672"/>
            <a:ext cx="566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19" y="2514600"/>
            <a:ext cx="2514600" cy="214884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19" y="2514600"/>
            <a:ext cx="73152" cy="2148840"/>
          </a:xfrm>
          <a:prstGeom prst="rect">
            <a:avLst/>
          </a:prstGeom>
          <a:solidFill>
            <a:srgbClr val="2A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2679192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62741"/>
                </a:solidFill>
              </a:rPr>
              <a:t>Enter 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172968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Force/load, area, original length and deformation or other available parameters.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07007" y="2112264"/>
            <a:ext cx="2176273" cy="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520439" y="1828800"/>
            <a:ext cx="566928" cy="566928"/>
          </a:xfrm>
          <a:prstGeom prst="ellipse">
            <a:avLst/>
          </a:prstGeom>
          <a:solidFill>
            <a:srgbClr val="2A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39" y="1947672"/>
            <a:ext cx="566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79" y="2514600"/>
            <a:ext cx="2514600" cy="214884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79" y="2514600"/>
            <a:ext cx="73152" cy="2148840"/>
          </a:xfrm>
          <a:prstGeom prst="rect">
            <a:avLst/>
          </a:prstGeom>
          <a:solidFill>
            <a:srgbClr val="32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79" y="2679192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62741"/>
                </a:solidFill>
              </a:rPr>
              <a:t>Validate 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79" y="3172968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The application uses the entered values as the basis for its formulas.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87368" y="2112264"/>
            <a:ext cx="2176272" cy="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400800" y="1828800"/>
            <a:ext cx="566928" cy="566928"/>
          </a:xfrm>
          <a:prstGeom prst="ellipse">
            <a:avLst/>
          </a:prstGeom>
          <a:solidFill>
            <a:srgbClr val="2A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947672"/>
            <a:ext cx="566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514600"/>
            <a:ext cx="2514600" cy="214884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514600"/>
            <a:ext cx="73152" cy="2148840"/>
          </a:xfrm>
          <a:prstGeom prst="rect">
            <a:avLst/>
          </a:prstGeom>
          <a:solidFill>
            <a:srgbClr val="2A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679192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62741"/>
                </a:solidFill>
              </a:rPr>
              <a:t>Calculate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172968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The app computes quantities such as stress and strain and may derive additional properties.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967728" y="2112264"/>
            <a:ext cx="2176272" cy="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281159" y="1828800"/>
            <a:ext cx="566928" cy="566928"/>
          </a:xfrm>
          <a:prstGeom prst="ellipse">
            <a:avLst/>
          </a:prstGeom>
          <a:solidFill>
            <a:srgbClr val="2A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59" y="1947672"/>
            <a:ext cx="566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3999" y="2514600"/>
            <a:ext cx="2514600" cy="214884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3999" y="2514600"/>
            <a:ext cx="73152" cy="2148840"/>
          </a:xfrm>
          <a:prstGeom prst="rect">
            <a:avLst/>
          </a:prstGeom>
          <a:solidFill>
            <a:srgbClr val="32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599" y="2679192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62741"/>
                </a:solidFill>
              </a:rPr>
              <a:t>Display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599" y="3172968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Results are presented numerically and can be interpreted using the stress–strain concept.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Mechanical Strength • Stress–Strain Web App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741"/>
                </a:solidFill>
              </a:rPr>
              <a:t>4. Illustrative Website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9737D"/>
                </a:solidFill>
              </a:rPr>
              <a:t>The following is an illustrative reconstruction of the type of input/result screen; it is not a captured screenshot.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984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698480" cy="347472"/>
          </a:xfrm>
          <a:prstGeom prst="rect">
            <a:avLst/>
          </a:prstGeom>
          <a:solidFill>
            <a:srgbClr val="16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9536" y="1435607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0704" y="1435607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61872" y="1435607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389888"/>
            <a:ext cx="9784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Streamlit • Mechanical Strength / Stress–Strain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1764792"/>
            <a:ext cx="1325880" cy="397764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984248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A32"/>
                </a:solidFill>
              </a:defRPr>
            </a:pPr>
            <a: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487168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A32"/>
                </a:solidFill>
              </a:defRPr>
            </a:pPr>
            <a:r>
              <a:t>Material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990088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A32"/>
                </a:solidFill>
              </a:defRPr>
            </a:pPr>
            <a:r>
              <a:t>Calculate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493008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A32"/>
                </a:solidFill>
              </a:defRPr>
            </a:pPr>
            <a:r>
              <a:t>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1892807"/>
            <a:ext cx="8869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62741"/>
                </a:solidFill>
              </a:defRPr>
            </a:pPr>
            <a:r>
              <a:t>Mechanical Strength Calculator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404872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32A32"/>
                </a:solidFill>
              </a:defRPr>
            </a:pPr>
            <a:r>
              <a:t>Force (N)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39" y="2368296"/>
            <a:ext cx="1005840" cy="292608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80" y="240487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32A32"/>
                </a:solidFill>
              </a:defRPr>
            </a:pPr>
            <a:r>
              <a:t>1000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2907791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32A32"/>
                </a:solidFill>
              </a:defRPr>
            </a:pPr>
            <a:r>
              <a:t>Area (mm²)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39" y="2871215"/>
            <a:ext cx="1005840" cy="292608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2907791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32A32"/>
                </a:solidFill>
              </a:defRPr>
            </a:pPr>
            <a:r>
              <a:t>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3410712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32A32"/>
                </a:solidFill>
              </a:defRPr>
            </a:pPr>
            <a:r>
              <a:t>Original Length (mm)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20439" y="3374136"/>
            <a:ext cx="1005840" cy="292608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1880" y="341071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32A32"/>
                </a:solidFill>
              </a:defRPr>
            </a:pPr>
            <a:r>
              <a:t>200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3913632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32A32"/>
                </a:solidFill>
              </a:defRPr>
            </a:pPr>
            <a:r>
              <a:t>Extension (mm)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39" y="3877056"/>
            <a:ext cx="1005840" cy="292608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391363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32A32"/>
                </a:solidFill>
              </a:defRPr>
            </a:pPr>
            <a: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92040" y="2377439"/>
            <a:ext cx="6263640" cy="3200400"/>
          </a:xfrm>
          <a:prstGeom prst="roundRect">
            <a:avLst/>
          </a:prstGeom>
          <a:solidFill>
            <a:srgbClr val="F8FAFC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02352" y="2560320"/>
            <a:ext cx="58521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62741"/>
                </a:solidFill>
              </a:defRPr>
            </a:pPr>
            <a:r>
              <a:t>Calculated Results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02352" y="3017520"/>
            <a:ext cx="58521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A32"/>
                </a:solidFill>
              </a:defRPr>
            </a:pPr>
            <a:r>
              <a:t>Stress: 10 MPa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02352" y="3520439"/>
            <a:ext cx="58521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A32"/>
                </a:solidFill>
              </a:defRPr>
            </a:pPr>
            <a:r>
              <a:t>Strain: 0.010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02352" y="4023360"/>
            <a:ext cx="58521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A32"/>
                </a:solidFill>
              </a:defRPr>
            </a:pPr>
            <a:r>
              <a:t>Young's Modulus: 1000 MPa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907024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9737D"/>
                </a:solidFill>
              </a:defRPr>
            </a:pPr>
            <a:r>
              <a:t>Illustrative interface for explaining the website workflow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Mechanical Strength • Stress–Strain Web App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741"/>
                </a:solidFill>
              </a:rPr>
              <a:t>5. Stress–Strain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9737D"/>
                </a:solidFill>
              </a:rPr>
              <a:t>The stress–strain curve connects the numerical calculations to material behavior.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658368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25880" y="5257800"/>
            <a:ext cx="5669280" cy="0"/>
          </a:xfrm>
          <a:prstGeom prst="line">
            <a:avLst/>
          </a:prstGeom>
          <a:ln w="19050">
            <a:solidFill>
              <a:srgbClr val="232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325880" y="1645919"/>
            <a:ext cx="0" cy="3611881"/>
          </a:xfrm>
          <a:prstGeom prst="line">
            <a:avLst/>
          </a:prstGeom>
          <a:ln w="19050">
            <a:solidFill>
              <a:srgbClr val="232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325880" y="4846320"/>
            <a:ext cx="502920" cy="411480"/>
          </a:xfrm>
          <a:prstGeom prst="line">
            <a:avLst/>
          </a:prstGeom>
          <a:ln w="38100">
            <a:solidFill>
              <a:srgbClr val="2A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828800" y="4206240"/>
            <a:ext cx="731520" cy="640080"/>
          </a:xfrm>
          <a:prstGeom prst="line">
            <a:avLst/>
          </a:prstGeom>
          <a:ln w="38100">
            <a:solidFill>
              <a:srgbClr val="2A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560320" y="3429000"/>
            <a:ext cx="822960" cy="777240"/>
          </a:xfrm>
          <a:prstGeom prst="line">
            <a:avLst/>
          </a:prstGeom>
          <a:ln w="38100">
            <a:solidFill>
              <a:srgbClr val="2A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383280" y="3017520"/>
            <a:ext cx="868680" cy="411480"/>
          </a:xfrm>
          <a:prstGeom prst="line">
            <a:avLst/>
          </a:prstGeom>
          <a:ln w="38100">
            <a:solidFill>
              <a:srgbClr val="2A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251960" y="2834640"/>
            <a:ext cx="868680" cy="182880"/>
          </a:xfrm>
          <a:prstGeom prst="line">
            <a:avLst/>
          </a:prstGeom>
          <a:ln w="38100">
            <a:solidFill>
              <a:srgbClr val="2A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120640" y="2834640"/>
            <a:ext cx="777240" cy="274320"/>
          </a:xfrm>
          <a:prstGeom prst="line">
            <a:avLst/>
          </a:prstGeom>
          <a:ln w="38100">
            <a:solidFill>
              <a:srgbClr val="2A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897880" y="3108960"/>
            <a:ext cx="640080" cy="822960"/>
          </a:xfrm>
          <a:prstGeom prst="line">
            <a:avLst/>
          </a:prstGeom>
          <a:ln w="38100">
            <a:solidFill>
              <a:srgbClr val="2A6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971800" y="5440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2"/>
                </a:solidFill>
              </a:defRPr>
            </a:pPr>
            <a:r>
              <a:t>Strain (ε)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828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2"/>
                </a:solidFill>
              </a:defRPr>
            </a:pPr>
            <a:r>
              <a:t>Stress (σ)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206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737D"/>
                </a:solidFill>
              </a:defRPr>
            </a:pPr>
            <a:r>
              <a:t>Elastic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29260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737D"/>
                </a:solidFill>
              </a:defRPr>
            </a:pPr>
            <a:r>
              <a:t>Yield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43891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737D"/>
                </a:solidFill>
              </a:defRPr>
            </a:pPr>
            <a:r>
              <a:t>Plastic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1417320"/>
            <a:ext cx="37033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1417320"/>
            <a:ext cx="73152" cy="1143000"/>
          </a:xfrm>
          <a:prstGeom prst="rect">
            <a:avLst/>
          </a:prstGeom>
          <a:solidFill>
            <a:srgbClr val="32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1581912"/>
            <a:ext cx="32918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62741"/>
                </a:solidFill>
              </a:rPr>
              <a:t>Elastic region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075688"/>
            <a:ext cx="3291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Material returns approximately to its original shape when the load is removed.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2788920"/>
            <a:ext cx="37033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35240" y="2788920"/>
            <a:ext cx="73152" cy="1143000"/>
          </a:xfrm>
          <a:prstGeom prst="rect">
            <a:avLst/>
          </a:prstGeom>
          <a:solidFill>
            <a:srgbClr val="DC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2953512"/>
            <a:ext cx="32918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62741"/>
                </a:solidFill>
              </a:rPr>
              <a:t>Yield / plastic behavior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447287"/>
            <a:ext cx="3291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Beyond the elastic limit, permanent deformation can develop.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4160520"/>
            <a:ext cx="37033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635240" y="4160520"/>
            <a:ext cx="73152" cy="1143000"/>
          </a:xfrm>
          <a:prstGeom prst="rect">
            <a:avLst/>
          </a:prstGeom>
          <a:solidFill>
            <a:srgbClr val="2A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4325112"/>
            <a:ext cx="32918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62741"/>
                </a:solidFill>
              </a:rPr>
              <a:t>Engineering value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818888"/>
            <a:ext cx="3291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The curve helps explain stiffness, yield behavior, ultimate strength and fracture.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Mechanical Strength • Stress–Strain Web App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741"/>
                </a:solidFill>
              </a:rPr>
              <a:t>6. Example of the Calculation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9737D"/>
                </a:solidFill>
              </a:rPr>
              <a:t>Illustrative values showing how the core equations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337560" cy="196596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73152" cy="1965960"/>
          </a:xfrm>
          <a:prstGeom prst="rect">
            <a:avLst/>
          </a:prstGeom>
          <a:solidFill>
            <a:srgbClr val="2A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81912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62741"/>
                </a:solidFill>
              </a:rPr>
              <a:t>Given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75688"/>
            <a:ext cx="292607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Force F = 1000 N
Area A = 100 mm²
Original length L₀ = 200 mm
Extension ΔL = 2 mm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96596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73152" cy="1965960"/>
          </a:xfrm>
          <a:prstGeom prst="rect">
            <a:avLst/>
          </a:prstGeom>
          <a:solidFill>
            <a:srgbClr val="32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581912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62741"/>
                </a:solidFill>
              </a:rPr>
              <a:t>Stress &amp; strain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75688"/>
            <a:ext cx="292607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σ = 1000 / 100 = 10 N/mm² = 10 MPa
ε = 2 / 200 = 0.010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337560" cy="196596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73152" cy="1965960"/>
          </a:xfrm>
          <a:prstGeom prst="rect">
            <a:avLst/>
          </a:prstGeom>
          <a:solidFill>
            <a:srgbClr val="DC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581912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62741"/>
                </a:solidFill>
              </a:rPr>
              <a:t>Elastic modulus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075688"/>
            <a:ext cx="292607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If the material is behaving in the linear elastic region:
E = σ / ε = 10 / 0.010 = 1000 MPa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77639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These numbers are examples for explaining the method, not measurements from the website.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The same calculation structure can be automated by the web application.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Mechanical Strength • Stress–Strain Web App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741"/>
                </a:solidFill>
              </a:rPr>
              <a:t>7. Why This Is Useful in Mechanical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42900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73152" cy="1828800"/>
          </a:xfrm>
          <a:prstGeom prst="rect">
            <a:avLst/>
          </a:prstGeom>
          <a:solidFill>
            <a:srgbClr val="2A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9047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62741"/>
                </a:solidFill>
              </a:rPr>
              <a:t>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84248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Engineers use stress and strain calculations to size components and check loading conditions.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2900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73152" cy="1828800"/>
          </a:xfrm>
          <a:prstGeom prst="rect">
            <a:avLst/>
          </a:prstGeom>
          <a:solidFill>
            <a:srgbClr val="32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49047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62741"/>
                </a:solidFill>
              </a:rPr>
              <a:t>Material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984248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Stress–strain behavior helps compare stiffness, strength and deformation characteristics.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25880"/>
            <a:ext cx="342900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325880"/>
            <a:ext cx="73152" cy="1828800"/>
          </a:xfrm>
          <a:prstGeom prst="rect">
            <a:avLst/>
          </a:prstGeom>
          <a:solidFill>
            <a:srgbClr val="DC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49047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62741"/>
                </a:solidFill>
              </a:rPr>
              <a:t>Safety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984248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Understanding load capacity and deformation supports safer mechanical designs.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703320"/>
            <a:ext cx="10424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</a:defRPr>
            </a:pPr>
            <a:r>
              <a:t>Examples of applications: shafts, bolts, brackets, frames, pressure components and machine parts.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</a:defRPr>
            </a:pPr>
            <a:r>
              <a:t>The website provides an educational bridge between formulas taught in class and interactive engineering computation.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Mechanical Strength • Stress–Strain Web App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741"/>
                </a:solidFill>
              </a:rPr>
              <a:t>8. Advantages and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166360" cy="214884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73152" cy="2148840"/>
          </a:xfrm>
          <a:prstGeom prst="rect">
            <a:avLst/>
          </a:prstGeom>
          <a:solidFill>
            <a:srgbClr val="32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9047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62741"/>
                </a:solidFill>
              </a:rPr>
              <a:t>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84248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• Fast calculations
• Easy-to-understand interface
• Reduces repetitive arithmetic
• Useful for demonstrations and student projects
• Makes engineering formulas interactive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2148840"/>
          </a:xfrm>
          <a:prstGeom prst="roundRect">
            <a:avLst/>
          </a:prstGeom>
          <a:solidFill>
            <a:srgbClr val="F2F6FA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73152" cy="2148840"/>
          </a:xfrm>
          <a:prstGeom prst="rect">
            <a:avLst/>
          </a:prstGeom>
          <a:solidFill>
            <a:srgbClr val="DC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9047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62741"/>
                </a:solidFill>
              </a:rPr>
              <a:t>Limitations to keep in mind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84248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A32"/>
                </a:solidFill>
              </a:rPr>
              <a:t>• Results depend on correct user inputs
• Engineering assumptions and units must be checked
• A calculator is not a replacement for detailed design/code verification
• Actual material behavior can be more complex than a simple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Mechanical Strength • Stress–Strain Web App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149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The website turns core stress–strain equations into an interactive engineering tool.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Its workflow is: input data → calculate → display results → interpret material behavior.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It connects Strength of Materials theory with practical mechanical-engineering problem solving.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It can be used as a student-friendly demonstration and quick calculation aid.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669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2E1F0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</a:rPr>
              <a:t>Mechanical Strength • Stress–Strain Web App  |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